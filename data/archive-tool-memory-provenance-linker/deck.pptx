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hyperlink" Target="https://justinahiggins614-cmyk.github.io/jah-databases/db/archive-tool-memory-provenance-linker/" TargetMode="External"/><Relationship Id="rId3" Type="http://schemas.openxmlformats.org/officeDocument/2006/relationships/hyperlink" Target="https://justinahiggins614-cmyk.github.io/jah-databases-data-1/data/archive-tool-memory-provenance-linker/index.jsonl.gz" TargetMode="Externa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640080"/>
            <a:ext cx="7680960" cy="2011680"/>
          </a:xfrm>
          <a:prstGeom prst="rect">
            <a:avLst/>
          </a:prstGeom>
          <a:noFill/>
        </p:spPr>
        <p:txBody>
          <a:bodyPr wrap="square">
            <a:spAutoFit/>
          </a:bodyPr>
          <a:lstStyle/>
          <a:p>
            <a:pPr algn="ctr">
              <a:spcAft>
                <a:spcPts val="600"/>
              </a:spcAft>
            </a:pPr>
            <a:r>
              <a:rPr sz="4000" b="1">
                <a:solidFill>
                  <a:srgbClr val="FFFFFF"/>
                </a:solidFill>
                <a:latin typeface="Calibri"/>
              </a:rPr>
              <a:t>Memory Provenance Linker Database</a:t>
            </a:r>
          </a:p>
        </p:txBody>
      </p:sp>
      <p:sp>
        <p:nvSpPr>
          <p:cNvPr id="4" name="TextBox 3"/>
          <p:cNvSpPr txBox="1"/>
          <p:nvPr/>
        </p:nvSpPr>
        <p:spPr>
          <a:xfrm>
            <a:off x="914400" y="2743200"/>
            <a:ext cx="7315200" cy="1463040"/>
          </a:xfrm>
          <a:prstGeom prst="rect">
            <a:avLst/>
          </a:prstGeom>
          <a:noFill/>
        </p:spPr>
        <p:txBody>
          <a:bodyPr wrap="square">
            <a:spAutoFit/>
          </a:bodyPr>
          <a:lstStyle/>
          <a:p>
            <a:pPr algn="ctr">
              <a:spcAft>
                <a:spcPts val="600"/>
              </a:spcAft>
            </a:pPr>
            <a:r>
              <a:rPr sz="2200" b="0">
                <a:solidFill>
                  <a:srgbClr val="D5DBDB"/>
                </a:solidFill>
                <a:latin typeface="Calibri"/>
              </a:rPr>
              <a:t>Connects remembered conclusions back to their source records.</a:t>
            </a:r>
          </a:p>
        </p:txBody>
      </p:sp>
      <p:sp>
        <p:nvSpPr>
          <p:cNvPr id="5" name="TextBox 4"/>
          <p:cNvSpPr txBox="1"/>
          <p:nvPr/>
        </p:nvSpPr>
        <p:spPr>
          <a:xfrm>
            <a:off x="3291840" y="4297680"/>
            <a:ext cx="2560320" cy="548640"/>
          </a:xfrm>
          <a:prstGeom prst="rect">
            <a:avLst/>
          </a:prstGeom>
          <a:noFill/>
        </p:spPr>
        <p:txBody>
          <a:bodyPr wrap="square">
            <a:spAutoFit/>
          </a:bodyPr>
          <a:lstStyle/>
          <a:p>
            <a:pPr algn="ctr"/>
            <a:r>
              <a:rPr sz="1600" b="1">
                <a:solidFill>
                  <a:srgbClr val="2E86C1"/>
                </a:solidFill>
                <a:latin typeface="Calibri"/>
              </a:rPr>
              <a:t>PUBLIC EDITION</a:t>
            </a:r>
          </a:p>
        </p:txBody>
      </p:sp>
      <p:sp>
        <p:nvSpPr>
          <p:cNvPr id="6" name="TextBox 5"/>
          <p:cNvSpPr txBox="1"/>
          <p:nvPr/>
        </p:nvSpPr>
        <p:spPr>
          <a:xfrm>
            <a:off x="731520" y="5394960"/>
            <a:ext cx="7680960" cy="731520"/>
          </a:xfrm>
          <a:prstGeom prst="rect">
            <a:avLst/>
          </a:prstGeom>
          <a:noFill/>
        </p:spPr>
        <p:txBody>
          <a:bodyPr wrap="square">
            <a:spAutoFit/>
          </a:bodyPr>
          <a:lstStyle/>
          <a:p>
            <a:pPr algn="ctr">
              <a:spcAft>
                <a:spcPts val="600"/>
              </a:spcAft>
            </a:pPr>
            <a:r>
              <a:rPr sz="1800" b="0">
                <a:solidFill>
                  <a:srgbClr val="D4A537"/>
                </a:solidFill>
                <a:latin typeface="Calibri"/>
              </a:rPr>
              <a:t>Property of Justin Addam Higgins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About this database</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600"/>
              </a:spcAft>
            </a:pPr>
            <a:r>
              <a:rPr sz="1800" b="0">
                <a:solidFill>
                  <a:srgbClr val="FFFFFF"/>
                </a:solidFill>
                <a:latin typeface="Calibri"/>
              </a:rPr>
              <a:t>The Memory Provenance Linker Database holds 15 archive tools — the full, fully-formed file for every record, not descriptions alone.</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Connects remembered conclusions back to their source records.</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Provenance: Public computer-science methods literature (Memory Provenance Linker practice); cross-checked against standard references, 2026-10-21.</a:t>
            </a:r>
          </a:p>
          <a:p>
            <a:pPr algn="l">
              <a:spcAft>
                <a:spcPts val="600"/>
              </a:spcAft>
            </a:pPr>
            <a:r>
              <a:rPr sz="1800" b="0">
                <a:solidFill>
                  <a:srgbClr val="D5DBDB"/>
                </a:solidFill>
                <a:latin typeface="Calibri"/>
              </a:rPr>
              <a:t/>
            </a:r>
          </a:p>
          <a:p>
            <a:pPr algn="l">
              <a:spcAft>
                <a:spcPts val="600"/>
              </a:spcAft>
            </a:pPr>
            <a:r>
              <a:rPr sz="1800" b="0">
                <a:solidFill>
                  <a:srgbClr val="D5DBDB"/>
                </a:solidFill>
                <a:latin typeface="Calibri"/>
              </a:rPr>
              <a:t>Browse cards show image + title + description; one click opens the complete record.</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Record highlights</a:t>
            </a:r>
          </a:p>
        </p:txBody>
      </p:sp>
      <p:sp>
        <p:nvSpPr>
          <p:cNvPr id="4" name="TextBox 3"/>
          <p:cNvSpPr txBox="1"/>
          <p:nvPr/>
        </p:nvSpPr>
        <p:spPr>
          <a:xfrm>
            <a:off x="731520" y="1280160"/>
            <a:ext cx="7680960" cy="5029200"/>
          </a:xfrm>
          <a:prstGeom prst="rect">
            <a:avLst/>
          </a:prstGeom>
          <a:noFill/>
        </p:spPr>
        <p:txBody>
          <a:bodyPr wrap="square">
            <a:spAutoFit/>
          </a:bodyPr>
          <a:lstStyle/>
          <a:p>
            <a:pPr algn="l">
              <a:spcAft>
                <a:spcPts val="200"/>
              </a:spcAft>
            </a:pPr>
            <a:r>
              <a:rPr sz="1700" b="1">
                <a:solidFill>
                  <a:srgbClr val="FFFFFF"/>
                </a:solidFill>
                <a:latin typeface="Calibri"/>
              </a:rPr>
              <a:t>1. Conclusion-to-source link records (foundational)  [JAH-AT69-000001]</a:t>
            </a:r>
          </a:p>
          <a:p>
            <a:pPr algn="l">
              <a:spcAft>
                <a:spcPts val="1000"/>
              </a:spcAft>
            </a:pPr>
            <a:r>
              <a:rPr sz="1400" b="0">
                <a:solidFill>
                  <a:srgbClr val="D5DBDB"/>
                </a:solidFill>
                <a:latin typeface="Calibri"/>
              </a:rPr>
              <a:t>   Every conclusion stored in memory carries links to the source records it came from, with the record identifier and the derivation timestamp. The links are written at derivation time, when the sources…</a:t>
            </a:r>
          </a:p>
          <a:p>
            <a:pPr algn="l">
              <a:spcAft>
                <a:spcPts val="200"/>
              </a:spcAft>
            </a:pPr>
            <a:r>
              <a:rPr sz="1700" b="1">
                <a:solidFill>
                  <a:srgbClr val="FFFFFF"/>
                </a:solidFill>
                <a:latin typeface="Calibri"/>
              </a:rPr>
              <a:t>2. Conclusion-to-source link records (compounded)  [JAH-AT69-000002]</a:t>
            </a:r>
          </a:p>
          <a:p>
            <a:pPr algn="l">
              <a:spcAft>
                <a:spcPts val="1000"/>
              </a:spcAft>
            </a:pPr>
            <a:r>
              <a:rPr sz="1400" b="0">
                <a:solidFill>
                  <a:srgbClr val="D5DBDB"/>
                </a:solidFill>
                <a:latin typeface="Calibri"/>
              </a:rPr>
              <a:t>   Every conclusion stored in memory carries links to the source records it came from, with the record identifier and the derivation timestamp. The links are written at derivation time, when the sources…</a:t>
            </a:r>
          </a:p>
          <a:p>
            <a:pPr algn="l">
              <a:spcAft>
                <a:spcPts val="200"/>
              </a:spcAft>
            </a:pPr>
            <a:r>
              <a:rPr sz="1700" b="1">
                <a:solidFill>
                  <a:srgbClr val="FFFFFF"/>
                </a:solidFill>
                <a:latin typeface="Calibri"/>
              </a:rPr>
              <a:t>3. Conclusion-to-source link records (production)  [JAH-AT69-000003]</a:t>
            </a:r>
          </a:p>
          <a:p>
            <a:pPr algn="l">
              <a:spcAft>
                <a:spcPts val="1000"/>
              </a:spcAft>
            </a:pPr>
            <a:r>
              <a:rPr sz="1400" b="0">
                <a:solidFill>
                  <a:srgbClr val="D5DBDB"/>
                </a:solidFill>
                <a:latin typeface="Calibri"/>
              </a:rPr>
              <a:t>   Every conclusion stored in memory carries links to the source records it came from, with the record identifier and the derivation timestamp. The links are written at derivation time, when the sources…</a:t>
            </a:r>
          </a:p>
          <a:p>
            <a:pPr algn="l">
              <a:spcAft>
                <a:spcPts val="200"/>
              </a:spcAft>
            </a:pPr>
            <a:r>
              <a:rPr sz="1700" b="1">
                <a:solidFill>
                  <a:srgbClr val="FFFFFF"/>
                </a:solidFill>
                <a:latin typeface="Calibri"/>
              </a:rPr>
              <a:t>4. Backtrace query for any conclusion (foundational)  [JAH-AT69-000004]</a:t>
            </a:r>
          </a:p>
          <a:p>
            <a:pPr algn="l">
              <a:spcAft>
                <a:spcPts val="1000"/>
              </a:spcAft>
            </a:pPr>
            <a:r>
              <a:rPr sz="1400" b="0">
                <a:solidFill>
                  <a:srgbClr val="D5DBDB"/>
                </a:solidFill>
                <a:latin typeface="Calibri"/>
              </a:rPr>
              <a:t>   Given a conclusion identifier, the linker returns the full chain of source records in one lookup, following links transitively through intermediate conclusions. Backtrace depth is capped to prevent r…</a:t>
            </a:r>
          </a:p>
          <a:p>
            <a:pPr algn="l">
              <a:spcAft>
                <a:spcPts val="200"/>
              </a:spcAft>
            </a:pPr>
            <a:r>
              <a:rPr sz="1700" b="1">
                <a:solidFill>
                  <a:srgbClr val="FFFFFF"/>
                </a:solidFill>
                <a:latin typeface="Calibri"/>
              </a:rPr>
              <a:t>5. Backtrace query for any conclusion (compounded)  [JAH-AT69-000005]</a:t>
            </a:r>
          </a:p>
          <a:p>
            <a:pPr algn="l">
              <a:spcAft>
                <a:spcPts val="1000"/>
              </a:spcAft>
            </a:pPr>
            <a:r>
              <a:rPr sz="1400" b="0">
                <a:solidFill>
                  <a:srgbClr val="D5DBDB"/>
                </a:solidFill>
                <a:latin typeface="Calibri"/>
              </a:rPr>
              <a:t>   Given a conclusion identifier, the linker returns the full chain of source records in one lookup, following links transitively through intermediate conclusions. Backtrace depth is capped to prevent r…</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365760"/>
            <a:ext cx="7680960" cy="731520"/>
          </a:xfrm>
          <a:prstGeom prst="rect">
            <a:avLst/>
          </a:prstGeom>
          <a:noFill/>
        </p:spPr>
        <p:txBody>
          <a:bodyPr wrap="square">
            <a:spAutoFit/>
          </a:bodyPr>
          <a:lstStyle/>
          <a:p>
            <a:pPr algn="l">
              <a:spcAft>
                <a:spcPts val="600"/>
              </a:spcAft>
            </a:pPr>
            <a:r>
              <a:rPr sz="3200" b="1">
                <a:solidFill>
                  <a:srgbClr val="2E86C1"/>
                </a:solidFill>
                <a:latin typeface="Calibri"/>
              </a:rPr>
              <a:t>By the numbers</a:t>
            </a:r>
          </a:p>
        </p:txBody>
      </p:sp>
      <p:sp>
        <p:nvSpPr>
          <p:cNvPr id="4" name="TextBox 3"/>
          <p:cNvSpPr txBox="1"/>
          <p:nvPr/>
        </p:nvSpPr>
        <p:spPr>
          <a:xfrm>
            <a:off x="731520" y="1280160"/>
            <a:ext cx="7680960" cy="4572000"/>
          </a:xfrm>
          <a:prstGeom prst="rect">
            <a:avLst/>
          </a:prstGeom>
          <a:noFill/>
        </p:spPr>
        <p:txBody>
          <a:bodyPr wrap="square">
            <a:spAutoFit/>
          </a:bodyPr>
          <a:lstStyle/>
          <a:p>
            <a:pPr algn="l">
              <a:spcAft>
                <a:spcPts val="1000"/>
              </a:spcAft>
            </a:pPr>
            <a:r>
              <a:rPr sz="2000" b="0">
                <a:solidFill>
                  <a:srgbClr val="FFFFFF"/>
                </a:solidFill>
                <a:latin typeface="Calibri"/>
              </a:rPr>
              <a:t>Records:  15</a:t>
            </a:r>
          </a:p>
          <a:p>
            <a:pPr algn="l">
              <a:spcAft>
                <a:spcPts val="1000"/>
              </a:spcAft>
            </a:pPr>
            <a:r>
              <a:rPr sz="2000" b="0">
                <a:solidFill>
                  <a:srgbClr val="FFFFFF"/>
                </a:solidFill>
                <a:latin typeface="Calibri"/>
              </a:rPr>
              <a:t>Record kind:  archive tool</a:t>
            </a:r>
          </a:p>
          <a:p>
            <a:pPr algn="l">
              <a:spcAft>
                <a:spcPts val="1000"/>
              </a:spcAft>
            </a:pPr>
            <a:r>
              <a:rPr sz="2000" b="0">
                <a:solidFill>
                  <a:srgbClr val="FFFFFF"/>
                </a:solidFill>
                <a:latin typeface="Calibri"/>
              </a:rPr>
              <a:t>ID prefix:  JAH-AT69-</a:t>
            </a:r>
          </a:p>
          <a:p>
            <a:pPr algn="l">
              <a:spcAft>
                <a:spcPts val="1000"/>
              </a:spcAft>
            </a:pPr>
            <a:r>
              <a:rPr sz="2000" b="0">
                <a:solidFill>
                  <a:srgbClr val="FFFFFF"/>
                </a:solidFill>
                <a:latin typeface="Calibri"/>
              </a:rPr>
              <a:t>March to a million:  15 / 1,000,000 — in progress</a:t>
            </a:r>
          </a:p>
          <a:p>
            <a:pPr algn="l">
              <a:spcAft>
                <a:spcPts val="1000"/>
              </a:spcAft>
            </a:pPr>
            <a:r>
              <a:rPr sz="2000" b="0">
                <a:solidFill>
                  <a:srgbClr val="FFFFFF"/>
                </a:solidFill>
                <a:latin typeface="Calibri"/>
              </a:rPr>
              <a:t>AI librarian:  Provenance Linker Librarian</a:t>
            </a:r>
          </a:p>
          <a:p>
            <a:pPr algn="l">
              <a:spcAft>
                <a:spcPts val="1000"/>
              </a:spcAft>
            </a:pPr>
            <a:r>
              <a:rPr sz="2000" b="0">
                <a:solidFill>
                  <a:srgbClr val="FFFFFF"/>
                </a:solidFill>
                <a:latin typeface="Calibri"/>
              </a:rPr>
              <a:t>Edition:  Public Edition</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9144000" cy="6858000"/>
          </a:xfrm>
          <a:prstGeom prst="rect">
            <a:avLst/>
          </a:prstGeom>
          <a:solidFill>
            <a:srgbClr val="121E33"/>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731520" y="548640"/>
            <a:ext cx="7680960" cy="731520"/>
          </a:xfrm>
          <a:prstGeom prst="rect">
            <a:avLst/>
          </a:prstGeom>
          <a:noFill/>
        </p:spPr>
        <p:txBody>
          <a:bodyPr wrap="square">
            <a:spAutoFit/>
          </a:bodyPr>
          <a:lstStyle/>
          <a:p>
            <a:pPr algn="ctr">
              <a:spcAft>
                <a:spcPts val="600"/>
              </a:spcAft>
            </a:pPr>
            <a:r>
              <a:rPr sz="3200" b="1">
                <a:solidFill>
                  <a:srgbClr val="2E86C1"/>
                </a:solidFill>
                <a:latin typeface="Calibri"/>
              </a:rPr>
              <a:t>Open the database</a:t>
            </a:r>
          </a:p>
        </p:txBody>
      </p:sp>
      <p:sp>
        <p:nvSpPr>
          <p:cNvPr id="4" name="TextBox 3"/>
          <p:cNvSpPr txBox="1"/>
          <p:nvPr/>
        </p:nvSpPr>
        <p:spPr>
          <a:xfrm>
            <a:off x="731520" y="1554480"/>
            <a:ext cx="7680960" cy="1097280"/>
          </a:xfrm>
          <a:prstGeom prst="rect">
            <a:avLst/>
          </a:prstGeom>
          <a:noFill/>
        </p:spPr>
        <p:txBody>
          <a:bodyPr wrap="square">
            <a:spAutoFit/>
          </a:bodyPr>
          <a:lstStyle/>
          <a:p>
            <a:pPr algn="ctr">
              <a:spcAft>
                <a:spcPts val="600"/>
              </a:spcAft>
            </a:pPr>
            <a:r>
              <a:rPr sz="1800" b="0">
                <a:solidFill>
                  <a:srgbClr val="D5DBDB"/>
                </a:solidFill>
                <a:latin typeface="Calibri"/>
              </a:rPr>
              <a:t>Connects remembered conclusions back to their source records.</a:t>
            </a:r>
          </a:p>
        </p:txBody>
      </p:sp>
      <p:sp>
        <p:nvSpPr>
          <p:cNvPr id="5" name="TextBox 4"/>
          <p:cNvSpPr txBox="1"/>
          <p:nvPr/>
        </p:nvSpPr>
        <p:spPr>
          <a:xfrm>
            <a:off x="914400" y="2926080"/>
            <a:ext cx="7315200" cy="1463040"/>
          </a:xfrm>
          <a:prstGeom prst="rect">
            <a:avLst/>
          </a:prstGeom>
          <a:noFill/>
        </p:spPr>
        <p:txBody>
          <a:bodyPr wrap="square">
            <a:spAutoFit/>
          </a:bodyPr>
          <a:lstStyle/>
          <a:p>
            <a:pPr algn="ctr"/>
            <a:r>
              <a:rPr sz="1600">
                <a:solidFill>
                  <a:srgbClr val="D4A537"/>
                </a:solidFill>
                <a:latin typeface="Calibri"/>
                <a:hlinkClick r:id="rId2"/>
              </a:rPr>
              <a:t>Live database page</a:t>
            </a:r>
          </a:p>
          <a:p>
            <a:pPr algn="ctr"/>
            <a:r>
              <a:rPr sz="1200">
                <a:solidFill>
                  <a:srgbClr val="7F8C8D"/>
                </a:solidFill>
                <a:latin typeface="Calibri"/>
                <a:hlinkClick r:id="rId2"/>
              </a:rPr>
              <a:t>https://justinahiggins614-cmyk.github.io/jah-databases/db/archive-tool-memory-provenance-linker/</a:t>
            </a:r>
          </a:p>
        </p:txBody>
      </p:sp>
      <p:sp>
        <p:nvSpPr>
          <p:cNvPr id="6" name="TextBox 5"/>
          <p:cNvSpPr txBox="1"/>
          <p:nvPr/>
        </p:nvSpPr>
        <p:spPr>
          <a:xfrm>
            <a:off x="914400" y="4572000"/>
            <a:ext cx="7315200" cy="1463040"/>
          </a:xfrm>
          <a:prstGeom prst="rect">
            <a:avLst/>
          </a:prstGeom>
          <a:noFill/>
        </p:spPr>
        <p:txBody>
          <a:bodyPr wrap="square">
            <a:spAutoFit/>
          </a:bodyPr>
          <a:lstStyle/>
          <a:p>
            <a:pPr algn="ctr"/>
            <a:r>
              <a:rPr sz="1600">
                <a:solidFill>
                  <a:srgbClr val="D4A537"/>
                </a:solidFill>
                <a:latin typeface="Calibri"/>
                <a:hlinkClick r:id="rId3"/>
              </a:rPr>
              <a:t>Machine-readable data index</a:t>
            </a:r>
          </a:p>
          <a:p>
            <a:pPr algn="ctr"/>
            <a:r>
              <a:rPr sz="1200">
                <a:solidFill>
                  <a:srgbClr val="7F8C8D"/>
                </a:solidFill>
                <a:latin typeface="Calibri"/>
                <a:hlinkClick r:id="rId3"/>
              </a:rPr>
              <a:t>https://justinahiggins614-cmyk.github.io/jah-databases-data-1/data/archive-tool-memory-provenance-linker/index.jsonl.gz</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