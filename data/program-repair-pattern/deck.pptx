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program-repair-pattern/" TargetMode="External"/><Relationship Id="rId3" Type="http://schemas.openxmlformats.org/officeDocument/2006/relationships/hyperlink" Target="https://justinahiggins614-cmyk.github.io/jah-databases-data-1/data/program-repair-pattern/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Program Repair Pattern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Named patterns for automated program repair, with before-and-after code.</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Program Repair Pattern Database holds 20 repair patterns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Named patterns for automated program repair, with before-and-after code.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Curated from public documentation of established engineering practice; verified against standard references.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Off-by-One Loop Bound Fix  [JAH-PRP-000001]</a:t>
            </a:r>
          </a:p>
          <a:p>
            <a:pPr algn="l">
              <a:spcAft>
                <a:spcPts val="1000"/>
              </a:spcAft>
            </a:pPr>
            <a:r>
              <a:rPr sz="1400" b="0">
                <a:solidFill>
                  <a:srgbClr val="D5DBDB"/>
                </a:solidFill>
                <a:latin typeface="Calibri"/>
              </a:rPr>
              <a:t>   Loops that run one iteration too many or too few are corrected by adjusting the bound operator. This is the most classic bug in programming, and the pattern fixes it mechanically. Teaching ladder: ra…</a:t>
            </a:r>
          </a:p>
          <a:p>
            <a:pPr algn="l">
              <a:spcAft>
                <a:spcPts val="200"/>
              </a:spcAft>
            </a:pPr>
            <a:r>
              <a:rPr sz="1700" b="1">
                <a:solidFill>
                  <a:srgbClr val="FFFFFF"/>
                </a:solidFill>
                <a:latin typeface="Calibri"/>
              </a:rPr>
              <a:t>2. Missing Null Guard Insertion  [JAH-PRP-000002]</a:t>
            </a:r>
          </a:p>
          <a:p>
            <a:pPr algn="l">
              <a:spcAft>
                <a:spcPts val="1000"/>
              </a:spcAft>
            </a:pPr>
            <a:r>
              <a:rPr sz="1400" b="0">
                <a:solidFill>
                  <a:srgbClr val="D5DBDB"/>
                </a:solidFill>
                <a:latin typeface="Calibri"/>
              </a:rPr>
              <a:t>   A guard clause is inserted before dereferencing a value that may be absent. Null guards turn crashes into handled cases, and the pattern places them exactly where needed. Teaching ladder: rank 1 — th…</a:t>
            </a:r>
          </a:p>
          <a:p>
            <a:pPr algn="l">
              <a:spcAft>
                <a:spcPts val="200"/>
              </a:spcAft>
            </a:pPr>
            <a:r>
              <a:rPr sz="1700" b="1">
                <a:solidFill>
                  <a:srgbClr val="FFFFFF"/>
                </a:solidFill>
                <a:latin typeface="Calibri"/>
              </a:rPr>
              <a:t>3. Loop Bound Tightening  [JAH-PRP-000003]</a:t>
            </a:r>
          </a:p>
          <a:p>
            <a:pPr algn="l">
              <a:spcAft>
                <a:spcPts val="1000"/>
              </a:spcAft>
            </a:pPr>
            <a:r>
              <a:rPr sz="1400" b="0">
                <a:solidFill>
                  <a:srgbClr val="D5DBDB"/>
                </a:solidFill>
                <a:latin typeface="Calibri"/>
              </a:rPr>
              <a:t>   A loop iterating past valid data is tightened to the true data length. Reading past the end corrupts or crashes; the pattern binds the loop to reality. Teaching ladder: rank 1 — the concept in its si…</a:t>
            </a:r>
          </a:p>
          <a:p>
            <a:pPr algn="l">
              <a:spcAft>
                <a:spcPts val="200"/>
              </a:spcAft>
            </a:pPr>
            <a:r>
              <a:rPr sz="1700" b="1">
                <a:solidFill>
                  <a:srgbClr val="FFFFFF"/>
                </a:solidFill>
                <a:latin typeface="Calibri"/>
              </a:rPr>
              <a:t>4. Type Coercion Correction  [JAH-PRP-000004]</a:t>
            </a:r>
          </a:p>
          <a:p>
            <a:pPr algn="l">
              <a:spcAft>
                <a:spcPts val="1000"/>
              </a:spcAft>
            </a:pPr>
            <a:r>
              <a:rPr sz="1400" b="0">
                <a:solidFill>
                  <a:srgbClr val="D5DBDB"/>
                </a:solidFill>
                <a:latin typeface="Calibri"/>
              </a:rPr>
              <a:t>   Values compared or combined across types are coerced explicitly before the operation. Implicit coercion hides bugs; the pattern makes conversion visible and deliberate. Teaching ladder: rank 1 — the…</a:t>
            </a:r>
          </a:p>
          <a:p>
            <a:pPr algn="l">
              <a:spcAft>
                <a:spcPts val="200"/>
              </a:spcAft>
            </a:pPr>
            <a:r>
              <a:rPr sz="1700" b="1">
                <a:solidFill>
                  <a:srgbClr val="FFFFFF"/>
                </a:solidFill>
                <a:latin typeface="Calibri"/>
              </a:rPr>
              <a:t>5. Deprecated API Migration  [JAH-PRP-000005]</a:t>
            </a:r>
          </a:p>
          <a:p>
            <a:pPr algn="l">
              <a:spcAft>
                <a:spcPts val="1000"/>
              </a:spcAft>
            </a:pPr>
            <a:r>
              <a:rPr sz="1400" b="0">
                <a:solidFill>
                  <a:srgbClr val="D5DBDB"/>
                </a:solidFill>
                <a:latin typeface="Calibri"/>
              </a:rPr>
              <a:t>   Calls to a removed or deprecated API are rewritten to the replacement API with equivalent semantics. The pattern carries the migration mapping, so large codebases upgrade mechanically. Teaching ladde…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20</a:t>
            </a:r>
          </a:p>
          <a:p>
            <a:pPr algn="l">
              <a:spcAft>
                <a:spcPts val="1000"/>
              </a:spcAft>
            </a:pPr>
            <a:r>
              <a:rPr sz="2000" b="0">
                <a:solidFill>
                  <a:srgbClr val="FFFFFF"/>
                </a:solidFill>
                <a:latin typeface="Calibri"/>
              </a:rPr>
              <a:t>Record kind:  repair pattern</a:t>
            </a:r>
          </a:p>
          <a:p>
            <a:pPr algn="l">
              <a:spcAft>
                <a:spcPts val="1000"/>
              </a:spcAft>
            </a:pPr>
            <a:r>
              <a:rPr sz="2000" b="0">
                <a:solidFill>
                  <a:srgbClr val="FFFFFF"/>
                </a:solidFill>
                <a:latin typeface="Calibri"/>
              </a:rPr>
              <a:t>ID prefix:  JAH-PRP-</a:t>
            </a:r>
          </a:p>
          <a:p>
            <a:pPr algn="l">
              <a:spcAft>
                <a:spcPts val="1000"/>
              </a:spcAft>
            </a:pPr>
            <a:r>
              <a:rPr sz="2000" b="0">
                <a:solidFill>
                  <a:srgbClr val="FFFFFF"/>
                </a:solidFill>
                <a:latin typeface="Calibri"/>
              </a:rPr>
              <a:t>March to a million:  20 / 1,000,000 — in progress</a:t>
            </a:r>
          </a:p>
          <a:p>
            <a:pPr algn="l">
              <a:spcAft>
                <a:spcPts val="1000"/>
              </a:spcAft>
            </a:pPr>
            <a:r>
              <a:rPr sz="2000" b="0">
                <a:solidFill>
                  <a:srgbClr val="FFFFFF"/>
                </a:solidFill>
                <a:latin typeface="Calibri"/>
              </a:rPr>
              <a:t>AI librarian:  JAH Repair Pattern Guide</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Named patterns for automated program repair, with before-and-after code.</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https://justinahiggins614-cmyk.github.io/jah-databases/db/program-repair-pattern/</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https://justinahiggins614-cmyk.github.io/jah-databases-data-1/data/program-repair-pattern/index.jsonl.gz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