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justinahiggins614-cmyk.github.io/jah-databases/db/multi-tier-caching-signature/" TargetMode="External"/><Relationship Id="rId3" Type="http://schemas.openxmlformats.org/officeDocument/2006/relationships/hyperlink" Target="https://justinahiggins614-cmyk.github.io/jah-databases-data-1/data/multi-tier-caching-signature/index.jsonl.gz"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680960" cy="2011680"/>
          </a:xfrm>
          <a:prstGeom prst="rect">
            <a:avLst/>
          </a:prstGeom>
          <a:noFill/>
        </p:spPr>
        <p:txBody>
          <a:bodyPr wrap="square">
            <a:spAutoFit/>
          </a:bodyPr>
          <a:lstStyle/>
          <a:p>
            <a:pPr algn="ctr">
              <a:spcAft>
                <a:spcPts val="600"/>
              </a:spcAft>
            </a:pPr>
            <a:r>
              <a:rPr sz="4000" b="1">
                <a:solidFill>
                  <a:srgbClr val="FFFFFF"/>
                </a:solidFill>
                <a:latin typeface="Calibri"/>
              </a:rPr>
              <a:t>Signature Multi-Tier Caching Database</a:t>
            </a:r>
          </a:p>
        </p:txBody>
      </p:sp>
      <p:sp>
        <p:nvSpPr>
          <p:cNvPr id="4" name="TextBox 3"/>
          <p:cNvSpPr txBox="1"/>
          <p:nvPr/>
        </p:nvSpPr>
        <p:spPr>
          <a:xfrm>
            <a:off x="914400" y="2743200"/>
            <a:ext cx="7315200" cy="1463040"/>
          </a:xfrm>
          <a:prstGeom prst="rect">
            <a:avLst/>
          </a:prstGeom>
          <a:noFill/>
        </p:spPr>
        <p:txBody>
          <a:bodyPr wrap="square">
            <a:spAutoFit/>
          </a:bodyPr>
          <a:lstStyle/>
          <a:p>
            <a:pPr algn="ctr">
              <a:spcAft>
                <a:spcPts val="600"/>
              </a:spcAft>
            </a:pPr>
            <a:r>
              <a:rPr sz="2200" b="0">
                <a:solidFill>
                  <a:srgbClr val="D5DBDB"/>
                </a:solidFill>
                <a:latin typeface="Calibri"/>
              </a:rPr>
              <a:t>Caches stacked in tiers — CPU-fast L1 down to CDN edge — with the policies that keep them coherent: write paths, eviction, stampede protection, and real hit ratios.</a:t>
            </a:r>
          </a:p>
        </p:txBody>
      </p:sp>
      <p:sp>
        <p:nvSpPr>
          <p:cNvPr id="5" name="TextBox 4"/>
          <p:cNvSpPr txBox="1"/>
          <p:nvPr/>
        </p:nvSpPr>
        <p:spPr>
          <a:xfrm>
            <a:off x="3291840" y="4297680"/>
            <a:ext cx="2560320" cy="548640"/>
          </a:xfrm>
          <a:prstGeom prst="rect">
            <a:avLst/>
          </a:prstGeom>
          <a:noFill/>
        </p:spPr>
        <p:txBody>
          <a:bodyPr wrap="square">
            <a:spAutoFit/>
          </a:bodyPr>
          <a:lstStyle/>
          <a:p>
            <a:pPr algn="ctr"/>
            <a:r>
              <a:rPr sz="1600" b="1">
                <a:solidFill>
                  <a:srgbClr val="D4A537"/>
                </a:solidFill>
                <a:latin typeface="Calibri"/>
              </a:rPr>
              <a:t>SIGNATURE EDITION</a:t>
            </a:r>
          </a:p>
        </p:txBody>
      </p:sp>
      <p:sp>
        <p:nvSpPr>
          <p:cNvPr id="6" name="TextBox 5"/>
          <p:cNvSpPr txBox="1"/>
          <p:nvPr/>
        </p:nvSpPr>
        <p:spPr>
          <a:xfrm>
            <a:off x="731520" y="5394960"/>
            <a:ext cx="7680960" cy="731520"/>
          </a:xfrm>
          <a:prstGeom prst="rect">
            <a:avLst/>
          </a:prstGeom>
          <a:noFill/>
        </p:spPr>
        <p:txBody>
          <a:bodyPr wrap="square">
            <a:spAutoFit/>
          </a:bodyPr>
          <a:lstStyle/>
          <a:p>
            <a:pPr algn="ctr">
              <a:spcAft>
                <a:spcPts val="600"/>
              </a:spcAft>
            </a:pPr>
            <a:r>
              <a:rPr sz="1800" b="0">
                <a:solidFill>
                  <a:srgbClr val="D4A537"/>
                </a:solidFill>
                <a:latin typeface="Calibri"/>
              </a:rPr>
              <a:t>Property of Justin Addam Higgins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D4A537"/>
                </a:solidFill>
                <a:latin typeface="Calibri"/>
              </a:rPr>
              <a:t>About this database</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600"/>
              </a:spcAft>
            </a:pPr>
            <a:r>
              <a:rPr sz="1800" b="0">
                <a:solidFill>
                  <a:srgbClr val="FFFFFF"/>
                </a:solidFill>
                <a:latin typeface="Calibri"/>
              </a:rPr>
              <a:t>The Signature Multi-Tier Caching Database holds 15 fundamental abilitys — the full, fully-formed file for every record, not descriptions alone.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Caches stacked in tiers — CPU-fast L1 down to CDN edge — with the policies that keep them coherent: write paths, eviction, stampede protection, and real hit ratios.</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Provenance: Signature-generated completion: original Signature-authored exposition written for the JAH Databases network. Signature-labeled; never presented as public record.</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Browse cards show image + title + description; one click opens the complete record.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D4A537"/>
                </a:solidFill>
                <a:latin typeface="Calibri"/>
              </a:rPr>
              <a:t>Record highlights</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200"/>
              </a:spcAft>
            </a:pPr>
            <a:r>
              <a:rPr sz="1700" b="1">
                <a:solidFill>
                  <a:srgbClr val="FFFFFF"/>
                </a:solidFill>
                <a:latin typeface="Calibri"/>
              </a:rPr>
              <a:t>1. L1/L2/L3 tier architecture  [JAH-MTC-S-000001]</a:t>
            </a:r>
          </a:p>
          <a:p>
            <a:pPr algn="l">
              <a:spcAft>
                <a:spcPts val="1000"/>
              </a:spcAft>
            </a:pPr>
            <a:r>
              <a:rPr sz="1400" b="0">
                <a:solidFill>
                  <a:srgbClr val="D5DBDB"/>
                </a:solidFill>
                <a:latin typeface="Calibri"/>
              </a:rPr>
              <a:t>   A multi-tier cache stacks storage by speed: L1 in process memory (microseconds), L2 in a shared service like Redis (sub-millisecond), L3 at the CDN edge or on disk (milliseconds). A lookup checks eac…</a:t>
            </a:r>
          </a:p>
          <a:p>
            <a:pPr algn="l">
              <a:spcAft>
                <a:spcPts val="200"/>
              </a:spcAft>
            </a:pPr>
            <a:r>
              <a:rPr sz="1700" b="1">
                <a:solidFill>
                  <a:srgbClr val="FFFFFF"/>
                </a:solidFill>
                <a:latin typeface="Calibri"/>
              </a:rPr>
              <a:t>2. Cache-aside (lazy loading)  [JAH-MTC-S-000002]</a:t>
            </a:r>
          </a:p>
          <a:p>
            <a:pPr algn="l">
              <a:spcAft>
                <a:spcPts val="1000"/>
              </a:spcAft>
            </a:pPr>
            <a:r>
              <a:rPr sz="1400" b="0">
                <a:solidFill>
                  <a:srgbClr val="D5DBDB"/>
                </a:solidFill>
                <a:latin typeface="Calibri"/>
              </a:rPr>
              <a:t>   Cache-aside is the most common pattern: the application checks the cache first and only queries the database on a miss, then stores the result. The cache never talks to the database directly, so stal…</a:t>
            </a:r>
          </a:p>
          <a:p>
            <a:pPr algn="l">
              <a:spcAft>
                <a:spcPts val="200"/>
              </a:spcAft>
            </a:pPr>
            <a:r>
              <a:rPr sz="1700" b="1">
                <a:solidFill>
                  <a:srgbClr val="FFFFFF"/>
                </a:solidFill>
                <a:latin typeface="Calibri"/>
              </a:rPr>
              <a:t>3. Write-through caching  [JAH-MTC-S-000003]</a:t>
            </a:r>
          </a:p>
          <a:p>
            <a:pPr algn="l">
              <a:spcAft>
                <a:spcPts val="1000"/>
              </a:spcAft>
            </a:pPr>
            <a:r>
              <a:rPr sz="1400" b="0">
                <a:solidFill>
                  <a:srgbClr val="D5DBDB"/>
                </a:solidFill>
                <a:latin typeface="Calibri"/>
              </a:rPr>
              <a:t>   Write-through sends every write to the cache and the database together, so the cache never holds data the database lacks. Reads are always fast and always fresh, but every write pays the cost of both…</a:t>
            </a:r>
          </a:p>
          <a:p>
            <a:pPr algn="l">
              <a:spcAft>
                <a:spcPts val="200"/>
              </a:spcAft>
            </a:pPr>
            <a:r>
              <a:rPr sz="1700" b="1">
                <a:solidFill>
                  <a:srgbClr val="FFFFFF"/>
                </a:solidFill>
                <a:latin typeface="Calibri"/>
              </a:rPr>
              <a:t>4. Write-behind (write-back) caching  [JAH-MTC-S-000004]</a:t>
            </a:r>
          </a:p>
          <a:p>
            <a:pPr algn="l">
              <a:spcAft>
                <a:spcPts val="1000"/>
              </a:spcAft>
            </a:pPr>
            <a:r>
              <a:rPr sz="1400" b="0">
                <a:solidFill>
                  <a:srgbClr val="D5DBDB"/>
                </a:solidFill>
                <a:latin typeface="Calibri"/>
              </a:rPr>
              <a:t>   Write-behind acknowledges the write as soon as it lands in the cache and flushes to the database asynchronously in batches. Writes become blisteringly fast and the database sees smooth batched load i…</a:t>
            </a:r>
          </a:p>
          <a:p>
            <a:pPr algn="l">
              <a:spcAft>
                <a:spcPts val="200"/>
              </a:spcAft>
            </a:pPr>
            <a:r>
              <a:rPr sz="1700" b="1">
                <a:solidFill>
                  <a:srgbClr val="FFFFFF"/>
                </a:solidFill>
                <a:latin typeface="Calibri"/>
              </a:rPr>
              <a:t>5. TTL design and jitter  [JAH-MTC-S-000005]</a:t>
            </a:r>
          </a:p>
          <a:p>
            <a:pPr algn="l">
              <a:spcAft>
                <a:spcPts val="1000"/>
              </a:spcAft>
            </a:pPr>
            <a:r>
              <a:rPr sz="1400" b="0">
                <a:solidFill>
                  <a:srgbClr val="D5DBDB"/>
                </a:solidFill>
                <a:latin typeface="Calibri"/>
              </a:rPr>
              <a:t>   Time-to-live bounds how stale a cached value can get, but identical TTLs make thousands of keys expire at once and slam the database — the thundering herd. Adding random jitter spreads expirations ov…</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D4A537"/>
                </a:solidFill>
                <a:latin typeface="Calibri"/>
              </a:rPr>
              <a:t>By the numbers</a:t>
            </a:r>
          </a:p>
        </p:txBody>
      </p:sp>
      <p:sp>
        <p:nvSpPr>
          <p:cNvPr id="4" name="TextBox 3"/>
          <p:cNvSpPr txBox="1"/>
          <p:nvPr/>
        </p:nvSpPr>
        <p:spPr>
          <a:xfrm>
            <a:off x="731520" y="1280160"/>
            <a:ext cx="7680960" cy="4572000"/>
          </a:xfrm>
          <a:prstGeom prst="rect">
            <a:avLst/>
          </a:prstGeom>
          <a:noFill/>
        </p:spPr>
        <p:txBody>
          <a:bodyPr wrap="square">
            <a:spAutoFit/>
          </a:bodyPr>
          <a:lstStyle/>
          <a:p>
            <a:pPr algn="l">
              <a:spcAft>
                <a:spcPts val="1000"/>
              </a:spcAft>
            </a:pPr>
            <a:r>
              <a:rPr sz="2000" b="0">
                <a:solidFill>
                  <a:srgbClr val="FFFFFF"/>
                </a:solidFill>
                <a:latin typeface="Calibri"/>
              </a:rPr>
              <a:t>Records:  15</a:t>
            </a:r>
          </a:p>
          <a:p>
            <a:pPr algn="l">
              <a:spcAft>
                <a:spcPts val="1000"/>
              </a:spcAft>
            </a:pPr>
            <a:r>
              <a:rPr sz="2000" b="0">
                <a:solidFill>
                  <a:srgbClr val="FFFFFF"/>
                </a:solidFill>
                <a:latin typeface="Calibri"/>
              </a:rPr>
              <a:t>Record kind:  fundamental ability</a:t>
            </a:r>
          </a:p>
          <a:p>
            <a:pPr algn="l">
              <a:spcAft>
                <a:spcPts val="1000"/>
              </a:spcAft>
            </a:pPr>
            <a:r>
              <a:rPr sz="2000" b="0">
                <a:solidFill>
                  <a:srgbClr val="FFFFFF"/>
                </a:solidFill>
                <a:latin typeface="Calibri"/>
              </a:rPr>
              <a:t>ID prefix:  JAH-MTC-S-</a:t>
            </a:r>
          </a:p>
          <a:p>
            <a:pPr algn="l">
              <a:spcAft>
                <a:spcPts val="1000"/>
              </a:spcAft>
            </a:pPr>
            <a:r>
              <a:rPr sz="2000" b="0">
                <a:solidFill>
                  <a:srgbClr val="FFFFFF"/>
                </a:solidFill>
                <a:latin typeface="Calibri"/>
              </a:rPr>
              <a:t>March to a million:  15 / 1,000,000 — in progress</a:t>
            </a:r>
          </a:p>
          <a:p>
            <a:pPr algn="l">
              <a:spcAft>
                <a:spcPts val="1000"/>
              </a:spcAft>
            </a:pPr>
            <a:r>
              <a:rPr sz="2000" b="0">
                <a:solidFill>
                  <a:srgbClr val="FFFFFF"/>
                </a:solidFill>
                <a:latin typeface="Calibri"/>
              </a:rPr>
              <a:t>AI librarian:  Signature Signature Multi-Tier Caching Librarian</a:t>
            </a:r>
          </a:p>
          <a:p>
            <a:pPr algn="l">
              <a:spcAft>
                <a:spcPts val="1000"/>
              </a:spcAft>
            </a:pPr>
            <a:r>
              <a:rPr sz="2000" b="0">
                <a:solidFill>
                  <a:srgbClr val="FFFFFF"/>
                </a:solidFill>
                <a:latin typeface="Calibri"/>
              </a:rPr>
              <a:t>Edition:  Signature Edition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square">
            <a:spAutoFit/>
          </a:bodyPr>
          <a:lstStyle/>
          <a:p>
            <a:pPr algn="ctr">
              <a:spcAft>
                <a:spcPts val="600"/>
              </a:spcAft>
            </a:pPr>
            <a:r>
              <a:rPr sz="3200" b="1">
                <a:solidFill>
                  <a:srgbClr val="D4A537"/>
                </a:solidFill>
                <a:latin typeface="Calibri"/>
              </a:rPr>
              <a:t>Open the database</a:t>
            </a:r>
          </a:p>
        </p:txBody>
      </p:sp>
      <p:sp>
        <p:nvSpPr>
          <p:cNvPr id="4" name="TextBox 3"/>
          <p:cNvSpPr txBox="1"/>
          <p:nvPr/>
        </p:nvSpPr>
        <p:spPr>
          <a:xfrm>
            <a:off x="731520" y="1554480"/>
            <a:ext cx="7680960" cy="1097280"/>
          </a:xfrm>
          <a:prstGeom prst="rect">
            <a:avLst/>
          </a:prstGeom>
          <a:noFill/>
        </p:spPr>
        <p:txBody>
          <a:bodyPr wrap="square">
            <a:spAutoFit/>
          </a:bodyPr>
          <a:lstStyle/>
          <a:p>
            <a:pPr algn="ctr">
              <a:spcAft>
                <a:spcPts val="600"/>
              </a:spcAft>
            </a:pPr>
            <a:r>
              <a:rPr sz="1800" b="0">
                <a:solidFill>
                  <a:srgbClr val="D5DBDB"/>
                </a:solidFill>
                <a:latin typeface="Calibri"/>
              </a:rPr>
              <a:t>Caches stacked in tiers — CPU-fast L1 down to CDN edge — with the policies that keep them coherent: write paths, eviction, stampede protection, and real hit ratios.</a:t>
            </a:r>
          </a:p>
        </p:txBody>
      </p:sp>
      <p:sp>
        <p:nvSpPr>
          <p:cNvPr id="5" name="TextBox 4"/>
          <p:cNvSpPr txBox="1"/>
          <p:nvPr/>
        </p:nvSpPr>
        <p:spPr>
          <a:xfrm>
            <a:off x="914400" y="2926080"/>
            <a:ext cx="7315200" cy="1463040"/>
          </a:xfrm>
          <a:prstGeom prst="rect">
            <a:avLst/>
          </a:prstGeom>
          <a:noFill/>
        </p:spPr>
        <p:txBody>
          <a:bodyPr wrap="square">
            <a:spAutoFit/>
          </a:bodyPr>
          <a:lstStyle/>
          <a:p>
            <a:pPr algn="ctr"/>
            <a:r>
              <a:rPr sz="1600">
                <a:solidFill>
                  <a:srgbClr val="D4A537"/>
                </a:solidFill>
                <a:latin typeface="Calibri"/>
                <a:hlinkClick r:id="rId2"/>
              </a:rPr>
              <a:t>Live database page</a:t>
            </a:r>
          </a:p>
          <a:p>
            <a:pPr algn="ctr"/>
            <a:r>
              <a:rPr sz="1200">
                <a:solidFill>
                  <a:srgbClr val="7F8C8D"/>
                </a:solidFill>
                <a:latin typeface="Calibri"/>
                <a:hlinkClick r:id="rId2"/>
              </a:rPr>
              <a:t>https://justinahiggins614-cmyk.github.io/jah-databases/db/multi-tier-caching-signature/</a:t>
            </a:r>
          </a:p>
        </p:txBody>
      </p:sp>
      <p:sp>
        <p:nvSpPr>
          <p:cNvPr id="6" name="TextBox 5"/>
          <p:cNvSpPr txBox="1"/>
          <p:nvPr/>
        </p:nvSpPr>
        <p:spPr>
          <a:xfrm>
            <a:off x="914400" y="4572000"/>
            <a:ext cx="7315200" cy="1463040"/>
          </a:xfrm>
          <a:prstGeom prst="rect">
            <a:avLst/>
          </a:prstGeom>
          <a:noFill/>
        </p:spPr>
        <p:txBody>
          <a:bodyPr wrap="square">
            <a:spAutoFit/>
          </a:bodyPr>
          <a:lstStyle/>
          <a:p>
            <a:pPr algn="ctr"/>
            <a:r>
              <a:rPr sz="1600">
                <a:solidFill>
                  <a:srgbClr val="D4A537"/>
                </a:solidFill>
                <a:latin typeface="Calibri"/>
                <a:hlinkClick r:id="rId3"/>
              </a:rPr>
              <a:t>Machine-readable data index</a:t>
            </a:r>
          </a:p>
          <a:p>
            <a:pPr algn="ctr"/>
            <a:r>
              <a:rPr sz="1200">
                <a:solidFill>
                  <a:srgbClr val="7F8C8D"/>
                </a:solidFill>
                <a:latin typeface="Calibri"/>
                <a:hlinkClick r:id="rId3"/>
              </a:rPr>
              <a:t>https://justinahiggins614-cmyk.github.io/jah-databases-data-1/data/multi-tier-caching-signature/index.jsonl.gz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