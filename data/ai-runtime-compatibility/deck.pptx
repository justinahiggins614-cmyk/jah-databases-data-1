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justinahiggins614-cmyk.github.io/jah-databases/db/ai-runtime-compatibility/" TargetMode="External"/><Relationship Id="rId3" Type="http://schemas.openxmlformats.org/officeDocument/2006/relationships/hyperlink" Target="https://justinahiggins614-cmyk.github.io/jah-databases-data-1/data/ai-runtime-compatibility/index.jsonl.gz"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680960" cy="2011680"/>
          </a:xfrm>
          <a:prstGeom prst="rect">
            <a:avLst/>
          </a:prstGeom>
          <a:noFill/>
        </p:spPr>
        <p:txBody>
          <a:bodyPr wrap="square">
            <a:spAutoFit/>
          </a:bodyPr>
          <a:lstStyle/>
          <a:p>
            <a:pPr algn="ctr">
              <a:spcAft>
                <a:spcPts val="600"/>
              </a:spcAft>
            </a:pPr>
            <a:r>
              <a:rPr sz="4000" b="1">
                <a:solidFill>
                  <a:srgbClr val="FFFFFF"/>
                </a:solidFill>
                <a:latin typeface="Calibri"/>
              </a:rPr>
              <a:t>AI Runtime Compatibility Database</a:t>
            </a:r>
          </a:p>
        </p:txBody>
      </p:sp>
      <p:sp>
        <p:nvSpPr>
          <p:cNvPr id="4" name="TextBox 3"/>
          <p:cNvSpPr txBox="1"/>
          <p:nvPr/>
        </p:nvSpPr>
        <p:spPr>
          <a:xfrm>
            <a:off x="914400" y="2743200"/>
            <a:ext cx="7315200" cy="1463040"/>
          </a:xfrm>
          <a:prstGeom prst="rect">
            <a:avLst/>
          </a:prstGeom>
          <a:noFill/>
        </p:spPr>
        <p:txBody>
          <a:bodyPr wrap="square">
            <a:spAutoFit/>
          </a:bodyPr>
          <a:lstStyle/>
          <a:p>
            <a:pPr algn="ctr">
              <a:spcAft>
                <a:spcPts val="600"/>
              </a:spcAft>
            </a:pPr>
            <a:r>
              <a:rPr sz="2200" b="0">
                <a:solidFill>
                  <a:srgbClr val="D5DBDB"/>
                </a:solidFill>
                <a:latin typeface="Calibri"/>
              </a:rPr>
              <a:t>Compatibility matrices across ONNX Runtime, TensorRT, TFLite, CoreML, and OpenVINO runtimes.</a:t>
            </a:r>
          </a:p>
        </p:txBody>
      </p:sp>
      <p:sp>
        <p:nvSpPr>
          <p:cNvPr id="5" name="TextBox 4"/>
          <p:cNvSpPr txBox="1"/>
          <p:nvPr/>
        </p:nvSpPr>
        <p:spPr>
          <a:xfrm>
            <a:off x="3291840" y="4297680"/>
            <a:ext cx="2560320" cy="548640"/>
          </a:xfrm>
          <a:prstGeom prst="rect">
            <a:avLst/>
          </a:prstGeom>
          <a:noFill/>
        </p:spPr>
        <p:txBody>
          <a:bodyPr wrap="square">
            <a:spAutoFit/>
          </a:bodyPr>
          <a:lstStyle/>
          <a:p>
            <a:pPr algn="ctr"/>
            <a:r>
              <a:rPr sz="1600" b="1">
                <a:solidFill>
                  <a:srgbClr val="2E86C1"/>
                </a:solidFill>
                <a:latin typeface="Calibri"/>
              </a:rPr>
              <a:t>PUBLIC EDITION</a:t>
            </a:r>
          </a:p>
        </p:txBody>
      </p:sp>
      <p:sp>
        <p:nvSpPr>
          <p:cNvPr id="6" name="TextBox 5"/>
          <p:cNvSpPr txBox="1"/>
          <p:nvPr/>
        </p:nvSpPr>
        <p:spPr>
          <a:xfrm>
            <a:off x="731520" y="5394960"/>
            <a:ext cx="7680960" cy="731520"/>
          </a:xfrm>
          <a:prstGeom prst="rect">
            <a:avLst/>
          </a:prstGeom>
          <a:noFill/>
        </p:spPr>
        <p:txBody>
          <a:bodyPr wrap="square">
            <a:spAutoFit/>
          </a:bodyPr>
          <a:lstStyle/>
          <a:p>
            <a:pPr algn="ctr">
              <a:spcAft>
                <a:spcPts val="600"/>
              </a:spcAft>
            </a:pPr>
            <a:r>
              <a:rPr sz="1800" b="0">
                <a:solidFill>
                  <a:srgbClr val="D4A537"/>
                </a:solidFill>
                <a:latin typeface="Calibri"/>
              </a:rPr>
              <a:t>Property of Justin Addam Higgins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About this database</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600"/>
              </a:spcAft>
            </a:pPr>
            <a:r>
              <a:rPr sz="1800" b="0">
                <a:solidFill>
                  <a:srgbClr val="FFFFFF"/>
                </a:solidFill>
                <a:latin typeface="Calibri"/>
              </a:rPr>
              <a:t>The AI Runtime Compatibility Database holds 20 runtime compatibility records — the full, fully-formed file for every record, not descriptions alone.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Compatibility matrices across ONNX Runtime, TensorRT, TFLite, CoreML, and OpenVINO runtimes.</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Provenance: JAH Databases lane N1 build</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Browse cards show image + title + description; one click opens the complete record.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Record highlights</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200"/>
              </a:spcAft>
            </a:pPr>
            <a:r>
              <a:rPr sz="1700" b="1">
                <a:solidFill>
                  <a:srgbClr val="FFFFFF"/>
                </a:solidFill>
                <a:latin typeface="Calibri"/>
              </a:rPr>
              <a:t>1. ONNX Runtime vs TensorRT: Dynamic Shape Support  [JAH-AIRUNT-000001]</a:t>
            </a:r>
          </a:p>
          <a:p>
            <a:pPr algn="l">
              <a:spcAft>
                <a:spcPts val="1000"/>
              </a:spcAft>
            </a:pPr>
            <a:r>
              <a:rPr sz="1400" b="0">
                <a:solidFill>
                  <a:srgbClr val="D5DBDB"/>
                </a:solidFill>
                <a:latin typeface="Calibri"/>
              </a:rPr>
              <a:t>   ONNX Runtime handles dynamic axes natively through symbolic shape inference, while TensorRT needs explicit optimization profiles per shape range. Moving a dynamic-shape model from ORT to TensorRT req…</a:t>
            </a:r>
          </a:p>
          <a:p>
            <a:pPr algn="l">
              <a:spcAft>
                <a:spcPts val="200"/>
              </a:spcAft>
            </a:pPr>
            <a:r>
              <a:rPr sz="1700" b="1">
                <a:solidFill>
                  <a:srgbClr val="FFFFFF"/>
                </a:solidFill>
                <a:latin typeface="Calibri"/>
              </a:rPr>
              <a:t>2. TFLite INT8 vs CoreML: Quantization Parity  [JAH-AIRUNT-000002]</a:t>
            </a:r>
          </a:p>
          <a:p>
            <a:pPr algn="l">
              <a:spcAft>
                <a:spcPts val="1000"/>
              </a:spcAft>
            </a:pPr>
            <a:r>
              <a:rPr sz="1400" b="0">
                <a:solidFill>
                  <a:srgbClr val="D5DBDB"/>
                </a:solidFill>
                <a:latin typeface="Calibri"/>
              </a:rPr>
              <a:t>   A model quantized for TFLite's INT8 kernels does not automatically run quantized on CoreML, which prefers its own linear quantization with different zero-point handling. Converting through ONNX with…</a:t>
            </a:r>
          </a:p>
          <a:p>
            <a:pPr algn="l">
              <a:spcAft>
                <a:spcPts val="200"/>
              </a:spcAft>
            </a:pPr>
            <a:r>
              <a:rPr sz="1700" b="1">
                <a:solidFill>
                  <a:srgbClr val="FFFFFF"/>
                </a:solidFill>
                <a:latin typeface="Calibri"/>
              </a:rPr>
              <a:t>3. OpenVINO vs ONNX Runtime: CPU Throughput  [JAH-AIRUNT-000003]</a:t>
            </a:r>
          </a:p>
          <a:p>
            <a:pPr algn="l">
              <a:spcAft>
                <a:spcPts val="1000"/>
              </a:spcAft>
            </a:pPr>
            <a:r>
              <a:rPr sz="1400" b="0">
                <a:solidFill>
                  <a:srgbClr val="D5DBDB"/>
                </a:solidFill>
                <a:latin typeface="Calibri"/>
              </a:rPr>
              <a:t>   On Intel CPUs, OpenVINO's graph optimizations and oneDNN kernels usually beat ONNX Runtime's default execution providers for vision models. ORT closes the gap with its own OpenVINO execution provider…</a:t>
            </a:r>
          </a:p>
          <a:p>
            <a:pPr algn="l">
              <a:spcAft>
                <a:spcPts val="200"/>
              </a:spcAft>
            </a:pPr>
            <a:r>
              <a:rPr sz="1700" b="1">
                <a:solidFill>
                  <a:srgbClr val="FFFFFF"/>
                </a:solidFill>
                <a:latin typeface="Calibri"/>
              </a:rPr>
              <a:t>4. TensorRT vs ONNX Runtime: Operator Coverage  [JAH-AIRUNT-000004]</a:t>
            </a:r>
          </a:p>
          <a:p>
            <a:pPr algn="l">
              <a:spcAft>
                <a:spcPts val="1000"/>
              </a:spcAft>
            </a:pPr>
            <a:r>
              <a:rPr sz="1400" b="0">
                <a:solidFill>
                  <a:srgbClr val="D5DBDB"/>
                </a:solidFill>
                <a:latin typeface="Calibri"/>
              </a:rPr>
              <a:t>   TensorRT supports a narrower operator set than ONNX Runtime, so exotic ops fall back to ORT's TensorRT execution provider hybrid mode. The provider partitions the graph, compiling supported subgraphs…</a:t>
            </a:r>
          </a:p>
          <a:p>
            <a:pPr algn="l">
              <a:spcAft>
                <a:spcPts val="200"/>
              </a:spcAft>
            </a:pPr>
            <a:r>
              <a:rPr sz="1700" b="1">
                <a:solidFill>
                  <a:srgbClr val="FFFFFF"/>
                </a:solidFill>
                <a:latin typeface="Calibri"/>
              </a:rPr>
              <a:t>5. CoreML vs TFLite: Mobile Deployment  [JAH-AIRUNT-000005]</a:t>
            </a:r>
          </a:p>
          <a:p>
            <a:pPr algn="l">
              <a:spcAft>
                <a:spcPts val="1000"/>
              </a:spcAft>
            </a:pPr>
            <a:r>
              <a:rPr sz="1400" b="0">
                <a:solidFill>
                  <a:srgbClr val="D5DBDB"/>
                </a:solidFill>
                <a:latin typeface="Calibri"/>
              </a:rPr>
              <a:t>   CoreML wins on Apple silicon with Neural Engine dispatch, while TFLite with GPU delegate wins on Android devices. The same model needs two conversion pipelines and two sets of delegates, and input pr…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By the numbers</a:t>
            </a:r>
          </a:p>
        </p:txBody>
      </p:sp>
      <p:sp>
        <p:nvSpPr>
          <p:cNvPr id="4" name="TextBox 3"/>
          <p:cNvSpPr txBox="1"/>
          <p:nvPr/>
        </p:nvSpPr>
        <p:spPr>
          <a:xfrm>
            <a:off x="731520" y="1280160"/>
            <a:ext cx="7680960" cy="4572000"/>
          </a:xfrm>
          <a:prstGeom prst="rect">
            <a:avLst/>
          </a:prstGeom>
          <a:noFill/>
        </p:spPr>
        <p:txBody>
          <a:bodyPr wrap="square">
            <a:spAutoFit/>
          </a:bodyPr>
          <a:lstStyle/>
          <a:p>
            <a:pPr algn="l">
              <a:spcAft>
                <a:spcPts val="1000"/>
              </a:spcAft>
            </a:pPr>
            <a:r>
              <a:rPr sz="2000" b="0">
                <a:solidFill>
                  <a:srgbClr val="FFFFFF"/>
                </a:solidFill>
                <a:latin typeface="Calibri"/>
              </a:rPr>
              <a:t>Records:  20</a:t>
            </a:r>
          </a:p>
          <a:p>
            <a:pPr algn="l">
              <a:spcAft>
                <a:spcPts val="1000"/>
              </a:spcAft>
            </a:pPr>
            <a:r>
              <a:rPr sz="2000" b="0">
                <a:solidFill>
                  <a:srgbClr val="FFFFFF"/>
                </a:solidFill>
                <a:latin typeface="Calibri"/>
              </a:rPr>
              <a:t>Record kind:  runtime compatibility record</a:t>
            </a:r>
          </a:p>
          <a:p>
            <a:pPr algn="l">
              <a:spcAft>
                <a:spcPts val="1000"/>
              </a:spcAft>
            </a:pPr>
            <a:r>
              <a:rPr sz="2000" b="0">
                <a:solidFill>
                  <a:srgbClr val="FFFFFF"/>
                </a:solidFill>
                <a:latin typeface="Calibri"/>
              </a:rPr>
              <a:t>ID prefix:  JAH-AIRUNT-</a:t>
            </a:r>
          </a:p>
          <a:p>
            <a:pPr algn="l">
              <a:spcAft>
                <a:spcPts val="1000"/>
              </a:spcAft>
            </a:pPr>
            <a:r>
              <a:rPr sz="2000" b="0">
                <a:solidFill>
                  <a:srgbClr val="FFFFFF"/>
                </a:solidFill>
                <a:latin typeface="Calibri"/>
              </a:rPr>
              <a:t>March to a million:  20 / 1,000,000 — in progress</a:t>
            </a:r>
          </a:p>
          <a:p>
            <a:pPr algn="l">
              <a:spcAft>
                <a:spcPts val="1000"/>
              </a:spcAft>
            </a:pPr>
            <a:r>
              <a:rPr sz="2000" b="0">
                <a:solidFill>
                  <a:srgbClr val="FFFFFF"/>
                </a:solidFill>
                <a:latin typeface="Calibri"/>
              </a:rPr>
              <a:t>AI librarian:  JAH Runtime Guide</a:t>
            </a:r>
          </a:p>
          <a:p>
            <a:pPr algn="l">
              <a:spcAft>
                <a:spcPts val="1000"/>
              </a:spcAft>
            </a:pPr>
            <a:r>
              <a:rPr sz="2000" b="0">
                <a:solidFill>
                  <a:srgbClr val="FFFFFF"/>
                </a:solidFill>
                <a:latin typeface="Calibri"/>
              </a:rPr>
              <a:t>Edition:  Public Edition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square">
            <a:spAutoFit/>
          </a:bodyPr>
          <a:lstStyle/>
          <a:p>
            <a:pPr algn="ctr">
              <a:spcAft>
                <a:spcPts val="600"/>
              </a:spcAft>
            </a:pPr>
            <a:r>
              <a:rPr sz="3200" b="1">
                <a:solidFill>
                  <a:srgbClr val="2E86C1"/>
                </a:solidFill>
                <a:latin typeface="Calibri"/>
              </a:rPr>
              <a:t>Open the database</a:t>
            </a:r>
          </a:p>
        </p:txBody>
      </p:sp>
      <p:sp>
        <p:nvSpPr>
          <p:cNvPr id="4" name="TextBox 3"/>
          <p:cNvSpPr txBox="1"/>
          <p:nvPr/>
        </p:nvSpPr>
        <p:spPr>
          <a:xfrm>
            <a:off x="731520" y="1554480"/>
            <a:ext cx="7680960" cy="1097280"/>
          </a:xfrm>
          <a:prstGeom prst="rect">
            <a:avLst/>
          </a:prstGeom>
          <a:noFill/>
        </p:spPr>
        <p:txBody>
          <a:bodyPr wrap="square">
            <a:spAutoFit/>
          </a:bodyPr>
          <a:lstStyle/>
          <a:p>
            <a:pPr algn="ctr">
              <a:spcAft>
                <a:spcPts val="600"/>
              </a:spcAft>
            </a:pPr>
            <a:r>
              <a:rPr sz="1800" b="0">
                <a:solidFill>
                  <a:srgbClr val="D5DBDB"/>
                </a:solidFill>
                <a:latin typeface="Calibri"/>
              </a:rPr>
              <a:t>Compatibility matrices across ONNX Runtime, TensorRT, TFLite, CoreML, and OpenVINO runtimes.</a:t>
            </a:r>
          </a:p>
        </p:txBody>
      </p:sp>
      <p:sp>
        <p:nvSpPr>
          <p:cNvPr id="5" name="TextBox 4"/>
          <p:cNvSpPr txBox="1"/>
          <p:nvPr/>
        </p:nvSpPr>
        <p:spPr>
          <a:xfrm>
            <a:off x="914400" y="2926080"/>
            <a:ext cx="7315200" cy="1463040"/>
          </a:xfrm>
          <a:prstGeom prst="rect">
            <a:avLst/>
          </a:prstGeom>
          <a:noFill/>
        </p:spPr>
        <p:txBody>
          <a:bodyPr wrap="square">
            <a:spAutoFit/>
          </a:bodyPr>
          <a:lstStyle/>
          <a:p>
            <a:pPr algn="ctr"/>
            <a:r>
              <a:rPr sz="1600">
                <a:solidFill>
                  <a:srgbClr val="D4A537"/>
                </a:solidFill>
                <a:latin typeface="Calibri"/>
                <a:hlinkClick r:id="rId2"/>
              </a:rPr>
              <a:t>Live database page</a:t>
            </a:r>
          </a:p>
          <a:p>
            <a:pPr algn="ctr"/>
            <a:r>
              <a:rPr sz="1200">
                <a:solidFill>
                  <a:srgbClr val="7F8C8D"/>
                </a:solidFill>
                <a:latin typeface="Calibri"/>
                <a:hlinkClick r:id="rId2"/>
              </a:rPr>
              <a:t>https://justinahiggins614-cmyk.github.io/jah-databases/db/ai-runtime-compatibility/</a:t>
            </a:r>
          </a:p>
        </p:txBody>
      </p:sp>
      <p:sp>
        <p:nvSpPr>
          <p:cNvPr id="6" name="TextBox 5"/>
          <p:cNvSpPr txBox="1"/>
          <p:nvPr/>
        </p:nvSpPr>
        <p:spPr>
          <a:xfrm>
            <a:off x="914400" y="4572000"/>
            <a:ext cx="7315200" cy="1463040"/>
          </a:xfrm>
          <a:prstGeom prst="rect">
            <a:avLst/>
          </a:prstGeom>
          <a:noFill/>
        </p:spPr>
        <p:txBody>
          <a:bodyPr wrap="square">
            <a:spAutoFit/>
          </a:bodyPr>
          <a:lstStyle/>
          <a:p>
            <a:pPr algn="ctr"/>
            <a:r>
              <a:rPr sz="1600">
                <a:solidFill>
                  <a:srgbClr val="D4A537"/>
                </a:solidFill>
                <a:latin typeface="Calibri"/>
                <a:hlinkClick r:id="rId3"/>
              </a:rPr>
              <a:t>Machine-readable data index</a:t>
            </a:r>
          </a:p>
          <a:p>
            <a:pPr algn="ctr"/>
            <a:r>
              <a:rPr sz="1200">
                <a:solidFill>
                  <a:srgbClr val="7F8C8D"/>
                </a:solidFill>
                <a:latin typeface="Calibri"/>
                <a:hlinkClick r:id="rId3"/>
              </a:rPr>
              <a:t>https://justinahiggins614-cmyk.github.io/jah-databases-data-1/data/ai-runtime-compatibility/index.jsonl.gz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