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workflow-transaction-and-rollback/" TargetMode="External"/><Relationship Id="rId3" Type="http://schemas.openxmlformats.org/officeDocument/2006/relationships/hyperlink" Target="https://justinahiggins614-cmyk.github.io/jah-databases-data-1/data/workflow-transaction-and-rollback/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Workflow Transaction and Rollback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Atomic multi-step workflows with tested rollback paths.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Workflow Transaction and Rollback Database holds 20 workflow transactions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Atomic multi-step workflows with tested rollback paths.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Curated from public documentation of established engineering practice; verified against standard references.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Saga Pattern with Compensating Actions  [JAH-WORKFL-000001]</a:t>
            </a:r>
          </a:p>
          <a:p>
            <a:pPr algn="l">
              <a:spcAft>
                <a:spcPts val="1000"/>
              </a:spcAft>
            </a:pPr>
            <a:r>
              <a:rPr sz="1400" b="0">
                <a:solidFill>
                  <a:srgbClr val="D5DBDB"/>
                </a:solidFill>
                <a:latin typeface="Calibri"/>
              </a:rPr>
              <a:t>   A long workflow is split into local transactions, each paired with a compensating action that undoes it. When a later step fails, compensations run in reverse order, leaving no partial effects behind…</a:t>
            </a:r>
          </a:p>
          <a:p>
            <a:pPr algn="l">
              <a:spcAft>
                <a:spcPts val="200"/>
              </a:spcAft>
            </a:pPr>
            <a:r>
              <a:rPr sz="1700" b="1">
                <a:solidFill>
                  <a:srgbClr val="FFFFFF"/>
                </a:solidFill>
                <a:latin typeface="Calibri"/>
              </a:rPr>
              <a:t>2. Checkpoint and Resume Workflow  [JAH-WORKFL-000002]</a:t>
            </a:r>
          </a:p>
          <a:p>
            <a:pPr algn="l">
              <a:spcAft>
                <a:spcPts val="1000"/>
              </a:spcAft>
            </a:pPr>
            <a:r>
              <a:rPr sz="1400" b="0">
                <a:solidFill>
                  <a:srgbClr val="D5DBDB"/>
                </a:solidFill>
                <a:latin typeface="Calibri"/>
              </a:rPr>
              <a:t>   The workflow persists its progress after each step, so a crash resumes from the last checkpoint instead of restarting. Checkpoints turn multi-hour workflows from fragile to boring, which is exactly w…</a:t>
            </a:r>
          </a:p>
          <a:p>
            <a:pPr algn="l">
              <a:spcAft>
                <a:spcPts val="200"/>
              </a:spcAft>
            </a:pPr>
            <a:r>
              <a:rPr sz="1700" b="1">
                <a:solidFill>
                  <a:srgbClr val="FFFFFF"/>
                </a:solidFill>
                <a:latin typeface="Calibri"/>
              </a:rPr>
              <a:t>3. Two-Phase Commit Coordination  [JAH-WORKFL-000003]</a:t>
            </a:r>
          </a:p>
          <a:p>
            <a:pPr algn="l">
              <a:spcAft>
                <a:spcPts val="1000"/>
              </a:spcAft>
            </a:pPr>
            <a:r>
              <a:rPr sz="1400" b="0">
                <a:solidFill>
                  <a:srgbClr val="D5DBDB"/>
                </a:solidFill>
                <a:latin typeface="Calibri"/>
              </a:rPr>
              <a:t>   A coordinator asks all participants to prepare, then commits only if every participant votes yes. Two-phase commit gives true atomicity across systems, at the cost of blocking while participants vote…</a:t>
            </a:r>
          </a:p>
          <a:p>
            <a:pPr algn="l">
              <a:spcAft>
                <a:spcPts val="200"/>
              </a:spcAft>
            </a:pPr>
            <a:r>
              <a:rPr sz="1700" b="1">
                <a:solidFill>
                  <a:srgbClr val="FFFFFF"/>
                </a:solidFill>
                <a:latin typeface="Calibri"/>
              </a:rPr>
              <a:t>4. Idempotent Step Design  [JAH-WORKFL-000004]</a:t>
            </a:r>
          </a:p>
          <a:p>
            <a:pPr algn="l">
              <a:spcAft>
                <a:spcPts val="1000"/>
              </a:spcAft>
            </a:pPr>
            <a:r>
              <a:rPr sz="1400" b="0">
                <a:solidFill>
                  <a:srgbClr val="D5DBDB"/>
                </a:solidFill>
                <a:latin typeface="Calibri"/>
              </a:rPr>
              <a:t>   Every step is designed so repeating it is harmless, letting the workflow safely retry any step. Idempotency keys on each step make 'at least once' execution behave like 'exactly once'. Teaching ladde…</a:t>
            </a:r>
          </a:p>
          <a:p>
            <a:pPr algn="l">
              <a:spcAft>
                <a:spcPts val="200"/>
              </a:spcAft>
            </a:pPr>
            <a:r>
              <a:rPr sz="1700" b="1">
                <a:solidFill>
                  <a:srgbClr val="FFFFFF"/>
                </a:solidFill>
                <a:latin typeface="Calibri"/>
              </a:rPr>
              <a:t>5. Compensation Ledger  [JAH-WORKFL-000005]</a:t>
            </a:r>
          </a:p>
          <a:p>
            <a:pPr algn="l">
              <a:spcAft>
                <a:spcPts val="1000"/>
              </a:spcAft>
            </a:pPr>
            <a:r>
              <a:rPr sz="1400" b="0">
                <a:solidFill>
                  <a:srgbClr val="D5DBDB"/>
                </a:solidFill>
                <a:latin typeface="Calibri"/>
              </a:rPr>
              <a:t>   Every forward action appends its compensation to a ledger before executing, so rollback is always possible. The ledger is the workflow's memory of what it did, which is what makes undo reliable. Teac…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workflow transaction</a:t>
            </a:r>
          </a:p>
          <a:p>
            <a:pPr algn="l">
              <a:spcAft>
                <a:spcPts val="1000"/>
              </a:spcAft>
            </a:pPr>
            <a:r>
              <a:rPr sz="2000" b="0">
                <a:solidFill>
                  <a:srgbClr val="FFFFFF"/>
                </a:solidFill>
                <a:latin typeface="Calibri"/>
              </a:rPr>
              <a:t>ID prefix:  JAH-WORKFL-</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Workflow Rollback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Atomic multi-step workflows with tested rollback paths.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https://justinahiggins614-cmyk.github.io/jah-databases/db/workflow-transaction-and-rollback/</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https://justinahiggins614-cmyk.github.io/jah-databases-data-1/data/workflow-transaction-and-rollback/index.jsonl.gz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