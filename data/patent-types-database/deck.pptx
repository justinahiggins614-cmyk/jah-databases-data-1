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patent-types-database/" TargetMode="External"/><Relationship Id="rId3" Type="http://schemas.openxmlformats.org/officeDocument/2006/relationships/hyperlink" Target="https://justinahiggins614-cmyk.github.io/jah-databases-data-1/data/patent-types-database/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Patent Types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Every patent type, with filing facts anyone can use.</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2E86C1"/>
                </a:solidFill>
                <a:latin typeface="Calibri"/>
              </a:rPr>
              <a:t>PUBLIC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Patent Types Database holds 15 patent type references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Every patent type, with filing facts anyone can use.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Public reference: USPTO Manual of Patent Examining Procedure (MPEP) and uspto.gov; verified 2026-10-21.</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Utility Patent  [JAH-PTYP-000001]</a:t>
            </a:r>
          </a:p>
          <a:p>
            <a:pPr algn="l">
              <a:spcAft>
                <a:spcPts val="1000"/>
              </a:spcAft>
            </a:pPr>
            <a:r>
              <a:rPr sz="1400" b="0">
                <a:solidFill>
                  <a:srgbClr val="D5DBDB"/>
                </a:solidFill>
                <a:latin typeface="Calibri"/>
              </a:rPr>
              <a:t>   The utility patent is the standard patent for new and useful processes, machines, manufactures, compositions of matter, and improvements thereof, under 35 U.S.C. 101. It lasts 20 years from the earli…</a:t>
            </a:r>
          </a:p>
          <a:p>
            <a:pPr algn="l">
              <a:spcAft>
                <a:spcPts val="200"/>
              </a:spcAft>
            </a:pPr>
            <a:r>
              <a:rPr sz="1700" b="1">
                <a:solidFill>
                  <a:srgbClr val="FFFFFF"/>
                </a:solidFill>
                <a:latin typeface="Calibri"/>
              </a:rPr>
              <a:t>2. Design Patent  [JAH-PTYP-000002]</a:t>
            </a:r>
          </a:p>
          <a:p>
            <a:pPr algn="l">
              <a:spcAft>
                <a:spcPts val="1000"/>
              </a:spcAft>
            </a:pPr>
            <a:r>
              <a:rPr sz="1400" b="0">
                <a:solidFill>
                  <a:srgbClr val="D5DBDB"/>
                </a:solidFill>
                <a:latin typeface="Calibri"/>
              </a:rPr>
              <a:t>   The design patent protects the ornamental appearance of an article of manufacture — its shape, surface ornamentation, or configuration — not how it works. Design patents filed on or after May 13, 201…</a:t>
            </a:r>
          </a:p>
          <a:p>
            <a:pPr algn="l">
              <a:spcAft>
                <a:spcPts val="200"/>
              </a:spcAft>
            </a:pPr>
            <a:r>
              <a:rPr sz="1700" b="1">
                <a:solidFill>
                  <a:srgbClr val="FFFFFF"/>
                </a:solidFill>
                <a:latin typeface="Calibri"/>
              </a:rPr>
              <a:t>3. Plant Patent  [JAH-PTYP-000003]</a:t>
            </a:r>
          </a:p>
          <a:p>
            <a:pPr algn="l">
              <a:spcAft>
                <a:spcPts val="1000"/>
              </a:spcAft>
            </a:pPr>
            <a:r>
              <a:rPr sz="1400" b="0">
                <a:solidFill>
                  <a:srgbClr val="D5DBDB"/>
                </a:solidFill>
                <a:latin typeface="Calibri"/>
              </a:rPr>
              <a:t>   The plant patent protects a distinct and new variety of plant that has been asexually reproduced — by grafting, budding, cuttings, or tissue culture — other than a tuber-propagated plant or a plant f…</a:t>
            </a:r>
          </a:p>
          <a:p>
            <a:pPr algn="l">
              <a:spcAft>
                <a:spcPts val="200"/>
              </a:spcAft>
            </a:pPr>
            <a:r>
              <a:rPr sz="1700" b="1">
                <a:solidFill>
                  <a:srgbClr val="FFFFFF"/>
                </a:solidFill>
                <a:latin typeface="Calibri"/>
              </a:rPr>
              <a:t>4. Provisional Patent Application  [JAH-PTYP-000004]</a:t>
            </a:r>
          </a:p>
          <a:p>
            <a:pPr algn="l">
              <a:spcAft>
                <a:spcPts val="1000"/>
              </a:spcAft>
            </a:pPr>
            <a:r>
              <a:rPr sz="1400" b="0">
                <a:solidFill>
                  <a:srgbClr val="D5DBDB"/>
                </a:solidFill>
                <a:latin typeface="Calibri"/>
              </a:rPr>
              <a:t>   The provisional application is a low-cost placeholder that secures a filing date for 12 months while the inventor prepares the full nonprovisional application; it is never examined and never becomes…</a:t>
            </a:r>
          </a:p>
          <a:p>
            <a:pPr algn="l">
              <a:spcAft>
                <a:spcPts val="200"/>
              </a:spcAft>
            </a:pPr>
            <a:r>
              <a:rPr sz="1700" b="1">
                <a:solidFill>
                  <a:srgbClr val="FFFFFF"/>
                </a:solidFill>
                <a:latin typeface="Calibri"/>
              </a:rPr>
              <a:t>5. PCT International Application  [JAH-PTYP-000005]</a:t>
            </a:r>
          </a:p>
          <a:p>
            <a:pPr algn="l">
              <a:spcAft>
                <a:spcPts val="1000"/>
              </a:spcAft>
            </a:pPr>
            <a:r>
              <a:rPr sz="1400" b="0">
                <a:solidFill>
                  <a:srgbClr val="D5DBDB"/>
                </a:solidFill>
                <a:latin typeface="Calibri"/>
              </a:rPr>
              <a:t>   The Patent Cooperation Treaty application is a single international filing that reserves the right to seek patent protection in over 150 contracting states. It is not an 'international patent' — ther…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15</a:t>
            </a:r>
          </a:p>
          <a:p>
            <a:pPr algn="l">
              <a:spcAft>
                <a:spcPts val="1000"/>
              </a:spcAft>
            </a:pPr>
            <a:r>
              <a:rPr sz="2000" b="0">
                <a:solidFill>
                  <a:srgbClr val="FFFFFF"/>
                </a:solidFill>
                <a:latin typeface="Calibri"/>
              </a:rPr>
              <a:t>Record kind:  patent type reference</a:t>
            </a:r>
          </a:p>
          <a:p>
            <a:pPr algn="l">
              <a:spcAft>
                <a:spcPts val="1000"/>
              </a:spcAft>
            </a:pPr>
            <a:r>
              <a:rPr sz="2000" b="0">
                <a:solidFill>
                  <a:srgbClr val="FFFFFF"/>
                </a:solidFill>
                <a:latin typeface="Calibri"/>
              </a:rPr>
              <a:t>ID prefix:  JAH-PTYP-</a:t>
            </a:r>
          </a:p>
          <a:p>
            <a:pPr algn="l">
              <a:spcAft>
                <a:spcPts val="1000"/>
              </a:spcAft>
            </a:pPr>
            <a:r>
              <a:rPr sz="2000" b="0">
                <a:solidFill>
                  <a:srgbClr val="FFFFFF"/>
                </a:solidFill>
                <a:latin typeface="Calibri"/>
              </a:rPr>
              <a:t>March to a million:  15 / 1,000,000 — in progress</a:t>
            </a:r>
          </a:p>
          <a:p>
            <a:pPr algn="l">
              <a:spcAft>
                <a:spcPts val="1000"/>
              </a:spcAft>
            </a:pPr>
            <a:r>
              <a:rPr sz="2000" b="0">
                <a:solidFill>
                  <a:srgbClr val="FFFFFF"/>
                </a:solidFill>
                <a:latin typeface="Calibri"/>
              </a:rPr>
              <a:t>AI librarian:  JAH Patent Types Librarian</a:t>
            </a:r>
          </a:p>
          <a:p>
            <a:pPr algn="l">
              <a:spcAft>
                <a:spcPts val="1000"/>
              </a:spcAft>
            </a:pPr>
            <a:r>
              <a:rPr sz="2000" b="0">
                <a:solidFill>
                  <a:srgbClr val="FFFFFF"/>
                </a:solidFill>
                <a:latin typeface="Calibri"/>
              </a:rPr>
              <a:t>Edition:  Public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2E86C1"/>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Every patent type, with filing facts anyone can use.</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https://justinahiggins614-cmyk.github.io/jah-databases/db/patent-types-database/</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https://justinahiggins614-cmyk.github.io/jah-databases-data-1/data/patent-types-database/index.jsonl.gz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